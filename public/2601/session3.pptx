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y="5143500" cx="9144000"/>
  <p:notesSz cx="5143500" cy="9144000"/>
  <p:embeddedFontLst>
    <p:embeddedFont>
      <p:font typeface="Quattrocento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jbzgAzIPzsQKLgiK11EHLtO73j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QuattrocentoSans-regular.fntdata"/><Relationship Id="rId25" Type="http://schemas.openxmlformats.org/officeDocument/2006/relationships/slide" Target="slides/slide21.xml"/><Relationship Id="rId28" Type="http://schemas.openxmlformats.org/officeDocument/2006/relationships/font" Target="fonts/QuattrocentoSans-italic.fntdata"/><Relationship Id="rId27" Type="http://schemas.openxmlformats.org/officeDocument/2006/relationships/font" Target="fonts/QuattrocentoSans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QuattrocentoSans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bdec654bb2_0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" name="Google Shape;27;g3bdec654bb2_0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g3bdec654bb2_0_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" name="Google Shape;3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b3f331a3b_0_1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b3f331a3b_0_1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" name="Google Shape;47;g3bb3f331a3b_0_1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b3f331a3b_0_2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b3f331a3b_0_2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" name="Google Shape;53;g3bb3f331a3b_0_2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bb3f331a3b_0_1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g3bb3f331a3b_0_1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" name="Google Shape;72;g3bb3f331a3b_0_16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b3f331a3b_0_59:notes"/>
          <p:cNvSpPr/>
          <p:nvPr>
            <p:ph idx="2" type="sldImg"/>
          </p:nvPr>
        </p:nvSpPr>
        <p:spPr>
          <a:xfrm>
            <a:off x="28597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g3bb3f331a3b_0_5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b3f331a3b_0_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bb3f331a3b_0_1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3bb3f331a3b_0_1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" name="Google Shape;9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9" name="Google Shape;16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dec654bb2_0_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bdec654bb2_0_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7" name="Google Shape;177;g3bdec654bb2_0_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5" name="Google Shape;18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bb3f331a3b_0_10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g3bb3f331a3b_0_10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g3bb3f331a3b_0_10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419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854c1213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"/>
          <p:cNvSpPr/>
          <p:nvPr/>
        </p:nvSpPr>
        <p:spPr>
          <a:xfrm>
            <a:off x="4158942" y="1579364"/>
            <a:ext cx="825818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1050"/>
              <a:buFont typeface="Quattrocento Sans"/>
              <a:buNone/>
            </a:pPr>
            <a:r>
              <a:rPr b="0" i="0" lang="en-US" sz="1050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트러블슈팅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185721" y="1998464"/>
            <a:ext cx="2772409" cy="1097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3600"/>
              <a:buFont typeface="Quattrocento Sans"/>
              <a:buNone/>
            </a:pPr>
            <a:r>
              <a:rPr b="0" i="0" lang="en-US" sz="36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Stateful 서버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3600"/>
              <a:buFont typeface="Quattrocento Sans"/>
              <a:buNone/>
            </a:pPr>
            <a:r>
              <a:rPr b="0" i="0" lang="en-US" sz="36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확장하기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2614176" y="3324225"/>
            <a:ext cx="3915498" cy="2399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1350"/>
              <a:buFont typeface="Quattrocento Sans"/>
              <a:buNone/>
            </a:pPr>
            <a:r>
              <a:rPr b="0" i="0" lang="en-US" sz="1350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브라우저 세션을 유지하면서 스케일 아웃하는 방법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97180" y="4665464"/>
            <a:ext cx="8549640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Backend Engineer · Sakak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bdec654bb2_0_34"/>
          <p:cNvSpPr/>
          <p:nvPr/>
        </p:nvSpPr>
        <p:spPr>
          <a:xfrm>
            <a:off x="0" y="0"/>
            <a:ext cx="57300" cy="5143500"/>
          </a:xfrm>
          <a:prstGeom prst="rect">
            <a:avLst/>
          </a:prstGeom>
          <a:solidFill>
            <a:srgbClr val="1D9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leek	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" name="Google Shape;31;g3bdec654bb2_0_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5825" y="475564"/>
            <a:ext cx="6852352" cy="4192375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g3bdec654bb2_0_34"/>
          <p:cNvSpPr/>
          <p:nvPr/>
        </p:nvSpPr>
        <p:spPr>
          <a:xfrm>
            <a:off x="381000" y="571500"/>
            <a:ext cx="4284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lang="en-US" sz="2700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문제 상황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1D9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leek	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381000" y="571500"/>
            <a:ext cx="42845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i="0" lang="en-US" sz="27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"서버 확장 좀 해주세요"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381000" y="2115587"/>
            <a:ext cx="8382000" cy="912300"/>
          </a:xfrm>
          <a:prstGeom prst="rect">
            <a:avLst/>
          </a:prstGeom>
          <a:solidFill>
            <a:srgbClr val="1E27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" name="Google Shape;41;p2"/>
          <p:cNvCxnSpPr/>
          <p:nvPr/>
        </p:nvCxnSpPr>
        <p:spPr>
          <a:xfrm>
            <a:off x="400050" y="2115612"/>
            <a:ext cx="0" cy="912300"/>
          </a:xfrm>
          <a:prstGeom prst="straightConnector1">
            <a:avLst/>
          </a:prstGeom>
          <a:noFill/>
          <a:ln cap="flat" cmpd="sng" w="38100">
            <a:solidFill>
              <a:srgbClr val="F79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2"/>
          <p:cNvSpPr/>
          <p:nvPr/>
        </p:nvSpPr>
        <p:spPr>
          <a:xfrm>
            <a:off x="647700" y="2306087"/>
            <a:ext cx="8044500" cy="2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1200"/>
              <a:buFont typeface="Quattrocento Sans"/>
              <a:buNone/>
            </a:pPr>
            <a:r>
              <a:rPr b="0" i="0" lang="en-US" sz="12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단일 서버 환경에서 수평 확장(Scale-out) 구조로 전환해주세요.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7700" y="2664167"/>
            <a:ext cx="80445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요구사항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g3bb3f331a3b_0_1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0575" y="943225"/>
            <a:ext cx="7562849" cy="325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g3bb3f331a3b_0_2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3563" y="585188"/>
            <a:ext cx="7756877" cy="3973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"/>
          <p:cNvSpPr/>
          <p:nvPr/>
        </p:nvSpPr>
        <p:spPr>
          <a:xfrm>
            <a:off x="381000" y="571500"/>
            <a:ext cx="42845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i="0" lang="en-US" sz="27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스크래핑 API 서버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687563" y="1472246"/>
            <a:ext cx="3671400" cy="939000"/>
          </a:xfrm>
          <a:prstGeom prst="roundRect">
            <a:avLst>
              <a:gd fmla="val 8114" name="adj"/>
            </a:avLst>
          </a:prstGeom>
          <a:solidFill>
            <a:srgbClr val="1E27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78063" y="1624646"/>
            <a:ext cx="33564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9BF0"/>
              </a:buClr>
              <a:buSzPts val="1050"/>
              <a:buFont typeface="Quattrocento Sans"/>
              <a:buNone/>
            </a:pPr>
            <a:r>
              <a:rPr b="1" i="0" lang="en-US" sz="1050" u="none" cap="none" strike="noStrike">
                <a:solidFill>
                  <a:srgbClr val="1D9B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Playwright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78063" y="1887477"/>
            <a:ext cx="335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브라우저를 코드로 조작하는 자동화 도구.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서버에서 실제 브라우저를 띄워서 웹사이트를 탐색한다.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87563" y="3523202"/>
            <a:ext cx="3671400" cy="939000"/>
          </a:xfrm>
          <a:prstGeom prst="roundRect">
            <a:avLst>
              <a:gd fmla="val 8114" name="adj"/>
            </a:avLst>
          </a:prstGeom>
          <a:solidFill>
            <a:srgbClr val="1E27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78063" y="3675602"/>
            <a:ext cx="33564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7931A"/>
              </a:buClr>
              <a:buSzPts val="1050"/>
              <a:buFont typeface="Quattrocento Sans"/>
              <a:buNone/>
            </a:pPr>
            <a:r>
              <a:rPr b="1" i="0" lang="en-US" sz="1050" u="none" cap="none" strike="noStrike">
                <a:solidFill>
                  <a:srgbClr val="F7931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핵심 제약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78063" y="3938432"/>
            <a:ext cx="33564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브라우저 Context가 서버 메모리에 종속되어야 함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Google Shape;68;p3" title="playwright-context-v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3563" y="1177125"/>
            <a:ext cx="4480238" cy="1792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g3bb3f331a3b_0_1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10963" y="628698"/>
            <a:ext cx="6122076" cy="38861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g3bb3f331a3b_0_169"/>
          <p:cNvSpPr txBox="1"/>
          <p:nvPr/>
        </p:nvSpPr>
        <p:spPr>
          <a:xfrm>
            <a:off x="461200" y="4093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요청 흐름</a:t>
            </a:r>
            <a:endParaRPr b="1" i="0" sz="1600" u="none" cap="none" strike="noStrike">
              <a:solidFill>
                <a:srgbClr val="E7E9E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g3bb3f331a3b_0_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29600" y="840401"/>
            <a:ext cx="3315629" cy="3462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g3bb3f331a3b_0_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3750" y="1013212"/>
            <a:ext cx="5208502" cy="3117074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g3bb3f331a3b_0_59"/>
          <p:cNvSpPr txBox="1"/>
          <p:nvPr/>
        </p:nvSpPr>
        <p:spPr>
          <a:xfrm>
            <a:off x="461200" y="4093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1차 요청 흐름</a:t>
            </a:r>
            <a:endParaRPr b="1" i="0" sz="1600" u="none" cap="none" strike="noStrike">
              <a:solidFill>
                <a:srgbClr val="E7E9E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b3f331a3b_0_1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89" name="Google Shape;89;g3bb3f331a3b_0_1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350" y="1368150"/>
            <a:ext cx="5684024" cy="2985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3bb3f331a3b_0_1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16675" y="1048959"/>
            <a:ext cx="3315626" cy="362347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g3bb3f331a3b_0_144"/>
          <p:cNvSpPr txBox="1"/>
          <p:nvPr/>
        </p:nvSpPr>
        <p:spPr>
          <a:xfrm>
            <a:off x="461200" y="4093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2차 요청 흐름</a:t>
            </a:r>
            <a:endParaRPr b="1" i="0" sz="1600" u="none" cap="none" strike="noStrike">
              <a:solidFill>
                <a:srgbClr val="E7E9EA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381000" y="571500"/>
            <a:ext cx="6887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i="0" lang="en-US" sz="27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서</a:t>
            </a:r>
            <a:r>
              <a:rPr b="1" lang="en-US" sz="2700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버를 늘리면서</a:t>
            </a:r>
            <a:r>
              <a:rPr b="1" i="0" lang="en-US" sz="27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세션을 찾을 수 없</a:t>
            </a:r>
            <a:r>
              <a:rPr b="1" lang="en-US" sz="2700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는 문제 발생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7600" y="1066800"/>
            <a:ext cx="5448791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2"/>
          <p:cNvSpPr txBox="1"/>
          <p:nvPr/>
        </p:nvSpPr>
        <p:spPr>
          <a:xfrm>
            <a:off x="1159463" y="4615038"/>
            <a:ext cx="6579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50" lIns="73100" spcFirstLastPara="1" rIns="73100" wrap="square" tIns="36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9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결론</a:t>
            </a:r>
            <a:endParaRPr sz="1119"/>
          </a:p>
        </p:txBody>
      </p:sp>
      <p:sp>
        <p:nvSpPr>
          <p:cNvPr id="105" name="Google Shape;105;p12"/>
          <p:cNvSpPr txBox="1"/>
          <p:nvPr/>
        </p:nvSpPr>
        <p:spPr>
          <a:xfrm>
            <a:off x="1770034" y="4639812"/>
            <a:ext cx="62145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50" lIns="73100" spcFirstLastPara="1" rIns="73100" wrap="square" tIns="36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9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IP 분산이 핵심인 스크래핑 서버에는 부적합</a:t>
            </a:r>
            <a:endParaRPr sz="1119"/>
          </a:p>
        </p:txBody>
      </p:sp>
      <p:pic>
        <p:nvPicPr>
          <p:cNvPr id="106" name="Google Shape;106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5238" y="408400"/>
            <a:ext cx="6733517" cy="3994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3"/>
          <p:cNvSpPr txBox="1"/>
          <p:nvPr/>
        </p:nvSpPr>
        <p:spPr>
          <a:xfrm>
            <a:off x="1483100" y="4602668"/>
            <a:ext cx="5990400" cy="2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3275" lIns="66550" spcFirstLastPara="1" rIns="66550" wrap="square" tIns="33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결론</a:t>
            </a:r>
            <a:endParaRPr sz="1019"/>
          </a:p>
        </p:txBody>
      </p:sp>
      <p:sp>
        <p:nvSpPr>
          <p:cNvPr id="112" name="Google Shape;112;p13"/>
          <p:cNvSpPr txBox="1"/>
          <p:nvPr/>
        </p:nvSpPr>
        <p:spPr>
          <a:xfrm>
            <a:off x="2003197" y="4625019"/>
            <a:ext cx="5657700" cy="2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275" lIns="66550" spcFirstLastPara="1" rIns="66550" wrap="square" tIns="33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9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동적 스케일링 환경에서 세션 유실 불가피</a:t>
            </a:r>
            <a:endParaRPr sz="1019"/>
          </a:p>
        </p:txBody>
      </p:sp>
      <p:pic>
        <p:nvPicPr>
          <p:cNvPr id="113" name="Google Shape;11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3363" y="561400"/>
            <a:ext cx="6777267" cy="40206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 txBox="1"/>
          <p:nvPr/>
        </p:nvSpPr>
        <p:spPr>
          <a:xfrm>
            <a:off x="457200" y="4495789"/>
            <a:ext cx="62790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875" lIns="69775" spcFirstLastPara="1" rIns="69775" wrap="square" tIns="348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73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결론</a:t>
            </a:r>
            <a:endParaRPr sz="1068"/>
          </a:p>
        </p:txBody>
      </p:sp>
      <p:sp>
        <p:nvSpPr>
          <p:cNvPr id="119" name="Google Shape;119;p14"/>
          <p:cNvSpPr txBox="1"/>
          <p:nvPr/>
        </p:nvSpPr>
        <p:spPr>
          <a:xfrm>
            <a:off x="596726" y="4809725"/>
            <a:ext cx="4761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875" lIns="69775" spcFirstLastPara="1" rIns="69775" wrap="square" tIns="348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8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올바른 방향이나, 현재 리소스 대비 과도한 투자</a:t>
            </a:r>
            <a:endParaRPr sz="1068"/>
          </a:p>
        </p:txBody>
      </p:sp>
      <p:pic>
        <p:nvPicPr>
          <p:cNvPr id="120" name="Google Shape;12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9838" y="476250"/>
            <a:ext cx="7064315" cy="4190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/>
          <p:nvPr/>
        </p:nvSpPr>
        <p:spPr>
          <a:xfrm>
            <a:off x="1230450" y="4763332"/>
            <a:ext cx="6057600" cy="2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3650" lIns="67300" spcFirstLastPara="1" rIns="67300" wrap="square" tIns="33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24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결론</a:t>
            </a:r>
            <a:endParaRPr sz="1030"/>
          </a:p>
        </p:txBody>
      </p:sp>
      <p:sp>
        <p:nvSpPr>
          <p:cNvPr id="126" name="Google Shape;126;p15"/>
          <p:cNvSpPr txBox="1"/>
          <p:nvPr/>
        </p:nvSpPr>
        <p:spPr>
          <a:xfrm>
            <a:off x="2192538" y="4785986"/>
            <a:ext cx="5721000" cy="2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3650" lIns="67300" spcFirstLastPara="1" rIns="67300" wrap="square" tIns="33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30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보안 요구사항과 비용 측면에서 부적합</a:t>
            </a:r>
            <a:endParaRPr sz="1030"/>
          </a:p>
        </p:txBody>
      </p:sp>
      <p:pic>
        <p:nvPicPr>
          <p:cNvPr id="127" name="Google Shape;12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0525" y="482600"/>
            <a:ext cx="7042939" cy="4178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Session-Aware Router란?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5434025" y="2233288"/>
            <a:ext cx="30969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625" lIns="69300" spcFirstLastPara="1" rIns="69300" wrap="square" tIns="346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64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장점</a:t>
            </a:r>
            <a:endParaRPr sz="1061"/>
          </a:p>
        </p:txBody>
      </p:sp>
      <p:sp>
        <p:nvSpPr>
          <p:cNvPr id="134" name="Google Shape;134;p16"/>
          <p:cNvSpPr txBox="1"/>
          <p:nvPr/>
        </p:nvSpPr>
        <p:spPr>
          <a:xfrm>
            <a:off x="5502842" y="2545150"/>
            <a:ext cx="2924700" cy="2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625" lIns="69300" spcFirstLastPara="1" rIns="69300" wrap="square" tIns="346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1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✅ 서버 추가/제거에도 기존 세션 유지</a:t>
            </a:r>
            <a:endParaRPr sz="1061"/>
          </a:p>
        </p:txBody>
      </p:sp>
      <p:sp>
        <p:nvSpPr>
          <p:cNvPr id="135" name="Google Shape;135;p16"/>
          <p:cNvSpPr txBox="1"/>
          <p:nvPr/>
        </p:nvSpPr>
        <p:spPr>
          <a:xfrm>
            <a:off x="5502842" y="2766919"/>
            <a:ext cx="2924700" cy="2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625" lIns="69300" spcFirstLastPara="1" rIns="69300" wrap="square" tIns="346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1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✅ 요청 단위 라우팅으로 IP 분산 가능</a:t>
            </a:r>
            <a:endParaRPr sz="1061"/>
          </a:p>
        </p:txBody>
      </p:sp>
      <p:sp>
        <p:nvSpPr>
          <p:cNvPr id="136" name="Google Shape;136;p16"/>
          <p:cNvSpPr txBox="1"/>
          <p:nvPr/>
        </p:nvSpPr>
        <p:spPr>
          <a:xfrm>
            <a:off x="5502842" y="2988687"/>
            <a:ext cx="2924700" cy="2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625" lIns="69300" spcFirstLastPara="1" rIns="69300" wrap="square" tIns="346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1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✅ 기존 코드 최소 변경</a:t>
            </a:r>
            <a:endParaRPr sz="1061"/>
          </a:p>
        </p:txBody>
      </p:sp>
      <p:pic>
        <p:nvPicPr>
          <p:cNvPr id="137" name="Google Shape;13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800" y="1287888"/>
            <a:ext cx="4907049" cy="3191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각 컴포넌트의 역할</a:t>
            </a:r>
            <a:endParaRPr/>
          </a:p>
        </p:txBody>
      </p:sp>
      <p:pic>
        <p:nvPicPr>
          <p:cNvPr id="143" name="Google Shape;14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6100" y="1005840"/>
            <a:ext cx="7071800" cy="38328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전체 아키텍처</a:t>
            </a:r>
            <a:endParaRPr/>
          </a:p>
        </p:txBody>
      </p:sp>
      <p:pic>
        <p:nvPicPr>
          <p:cNvPr id="149" name="Google Shape;14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6688" y="1005840"/>
            <a:ext cx="5250632" cy="38328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381000" y="571500"/>
            <a:ext cx="42845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i="0" lang="en-US" sz="27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왜 Lambda인가?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2692975" y="1420267"/>
            <a:ext cx="3758100" cy="2274300"/>
          </a:xfrm>
          <a:prstGeom prst="roundRect">
            <a:avLst>
              <a:gd fmla="val 3351" name="adj"/>
            </a:avLst>
          </a:prstGeom>
          <a:solidFill>
            <a:srgbClr val="1E27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2883475" y="1610767"/>
            <a:ext cx="34446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D9BF0"/>
              </a:buClr>
              <a:buSzPts val="1050"/>
              <a:buFont typeface="Quattrocento Sans"/>
              <a:buNone/>
            </a:pPr>
            <a:r>
              <a:rPr b="1" i="0" lang="en-US" sz="1050" u="none" cap="none" strike="noStrike">
                <a:solidFill>
                  <a:srgbClr val="1D9B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현재 상황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3168927" y="1953667"/>
            <a:ext cx="12420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콜드 스타트 체감 없음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131125" y="2245072"/>
            <a:ext cx="3192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825"/>
              <a:buFont typeface="Quattrocento Sans"/>
              <a:buNone/>
            </a:pPr>
            <a:r>
              <a:rPr b="0" i="0" lang="en-US" sz="82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스크래핑 특성상 지연 허용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3168927" y="2509838"/>
            <a:ext cx="10740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월 100만 요청 이하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3131125" y="2801243"/>
            <a:ext cx="3192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825"/>
              <a:buFont typeface="Quattrocento Sans"/>
              <a:buNone/>
            </a:pPr>
            <a:r>
              <a:rPr b="0" i="0" lang="en-US" sz="82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Lambda 거의 무료 구간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3168927" y="3066008"/>
            <a:ext cx="540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975"/>
              <a:buFont typeface="Quattrocento Sans"/>
              <a:buNone/>
            </a:pPr>
            <a:r>
              <a:rPr b="0" i="0" lang="en-US" sz="975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단순 로직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3131125" y="3357414"/>
            <a:ext cx="3192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825"/>
              <a:buFont typeface="Quattrocento Sans"/>
              <a:buNone/>
            </a:pPr>
            <a:r>
              <a:rPr b="0" i="0" lang="en-US" sz="82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Redis 조회 + 라운드로빈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505260" y="3913593"/>
            <a:ext cx="41334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1767B"/>
              </a:buClr>
              <a:buSzPts val="825"/>
              <a:buFont typeface="Quattrocento Sans"/>
              <a:buNone/>
            </a:pPr>
            <a:r>
              <a:rPr b="0" i="0" lang="en-US" sz="825" u="none" cap="none" strike="noStrike">
                <a:solidFill>
                  <a:srgbClr val="71767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월 5000만 요청 이상 시 상시 서버 고려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381000" y="571500"/>
            <a:ext cx="42845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lang="en-US" sz="2700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개선 결과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8401" y="1093000"/>
            <a:ext cx="7127199" cy="3650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dec654bb2_0_27"/>
          <p:cNvSpPr/>
          <p:nvPr/>
        </p:nvSpPr>
        <p:spPr>
          <a:xfrm>
            <a:off x="0" y="0"/>
            <a:ext cx="5730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bdec654bb2_0_27"/>
          <p:cNvSpPr/>
          <p:nvPr/>
        </p:nvSpPr>
        <p:spPr>
          <a:xfrm>
            <a:off x="381000" y="571500"/>
            <a:ext cx="4284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2700"/>
              <a:buFont typeface="Quattrocento Sans"/>
              <a:buNone/>
            </a:pPr>
            <a:r>
              <a:rPr b="1" lang="en-US" sz="2700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느낀점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g3bdec654bb2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063" y="1287075"/>
            <a:ext cx="8239877" cy="29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3cf720be.png" id="187" name="Google Shape;18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9"/>
          <p:cNvSpPr/>
          <p:nvPr/>
        </p:nvSpPr>
        <p:spPr>
          <a:xfrm>
            <a:off x="3967363" y="2032695"/>
            <a:ext cx="1209124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E9EA"/>
              </a:buClr>
              <a:buSzPts val="4200"/>
              <a:buFont typeface="Quattrocento Sans"/>
              <a:buNone/>
            </a:pPr>
            <a:r>
              <a:rPr b="1" i="0" lang="en-US" sz="4200" u="none" cap="none" strike="noStrike">
                <a:solidFill>
                  <a:srgbClr val="E7E9E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Q&amp;A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2026-01-25T09:35:06Z</dcterms:created>
  <dc:creator>Backend Engineer</dc:creator>
</cp:coreProperties>
</file>