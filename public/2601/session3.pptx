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embeddedFontLs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iqL8BKW3SwhlbEGjhXby4zSJu+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QuattrocentoSans-bold.fntdata"/><Relationship Id="rId27" Type="http://schemas.openxmlformats.org/officeDocument/2006/relationships/font" Target="fonts/Quattrocento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Quattrocento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customschemas.google.com/relationships/presentationmetadata" Target="metadata"/><Relationship Id="rId30" Type="http://schemas.openxmlformats.org/officeDocument/2006/relationships/font" Target="fonts/Quattrocento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안녕하세요. 저는 이번에 발표를 하게 된 3년차 개발자 이국준입니다.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이번에 준비한 발표 주제는 Stateful 서버 확장하기로, 서버에 상태가 남게 되었을 때에도 서버를 확장할 수 있을지에 대해서 트러블슈팅을 한 내용을 공유하고자 합니다.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bbe688209e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" name="Google Shape;27;g3bbe688209e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먼저 저희 회사를 간단하게 소개하도록 하겠습니다.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저는 주식회사 사각이라는 회사를 다니고 있고, 회사는 Pre-A Series 스타트업입니다.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그리고, 국내에서 서비스도 하고 있지만, 해외의 다양한 회사와 협업을 하고 여러 컨퍼런스에도 관련 서비스를 출품하고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저희 회사의 핵심 기술은 연합학습 기반의 개인화 된 On-device AI이고, 이 기술을 적용해 헬스케어, 모빌리티, 보험 분야의 개인 특화된 모델을 만들고 서비스를 하는 것을 목표로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저희회사의 서비스는 크게 세가지로 나눌 수 있는데 API 서비스와 LLM 서비스, 그리고 헬스케어 서비스로 나눌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g3bbe688209e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bbe688209e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" name="Google Shape;33;g3bbe688209e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여기에서 Software Engineer로서 하는 일은 크게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CANDiY API라고 하는 동적 크롤링 API 서비스, AI Workflow를 만들거나 프롬프트 엔지니어링, 인퍼런스 서버 최적화를 하는 LLM 서비스, 해당 서비스 기반으로 웹앱을 개발하는 헬스케어 서비스로 나눌 수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자사의 자원은 웹앱 서비스, API 서비스는 AWS Infra를 이용하고 LLM 서비스 부분은 온프레미스로 구축되어 운용되고 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지금 공유할 내용은 여기에서 동적 크롤링에서 발생한 트러블슈팅 사항입니다.</a:t>
            </a:r>
            <a:endParaRPr/>
          </a:p>
        </p:txBody>
      </p:sp>
      <p:sp>
        <p:nvSpPr>
          <p:cNvPr id="34" name="Google Shape;34;g3bbe688209e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bdec654bb2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" name="Google Shape;40;g3bdec654bb2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문제 상황을 설명하면, 자사 서비스에서 고객사가 증가하면서 단일서버로 해당 부하를 감당할 수 없다는 조직적 판단이 있었습니다.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그런데 일주일 이내 안정화가 필요했고, 서버는 필요에 따라 늘리거나 줄이는게 자유로워야 했습니다.</a:t>
            </a:r>
            <a:endParaRPr/>
          </a:p>
        </p:txBody>
      </p:sp>
      <p:sp>
        <p:nvSpPr>
          <p:cNvPr id="41" name="Google Shape;41;g3bdec654bb2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b3f331a3b_0_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g3bb3f331a3b_0_1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b3f331a3b_0_1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b3f331a3b_0_1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g3bb3f331a3b_0_1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bb3f331a3b_0_1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b3f331a3b_0_59:notes"/>
          <p:cNvSpPr/>
          <p:nvPr>
            <p:ph idx="2" type="sldImg"/>
          </p:nvPr>
        </p:nvSpPr>
        <p:spPr>
          <a:xfrm>
            <a:off x="285975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bb3f331a3b_0_59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b3f331a3b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bb3f331a3b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bb3f331a3b_0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b3f331a3b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g3bb3f331a3b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g3bb3f331a3b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모든 자원은 테라폼으로 관리되어, 동적으로 테라폼을 통해서 서버 자원을 늘리거나 줄일 수 있습니다.</a:t>
            </a:r>
            <a:endParaRPr/>
          </a:p>
        </p:txBody>
      </p:sp>
      <p:sp>
        <p:nvSpPr>
          <p:cNvPr id="157" name="Google Shape;15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dec654bb2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dec654bb2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g3bdec654bb2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bb3f331a3b_0_10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bb3f331a3b_0_10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bb3f331a3b_0_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854c1213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4158942" y="1579364"/>
            <a:ext cx="8258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71767B"/>
              </a:buClr>
              <a:buSzPts val="1050"/>
              <a:buFont typeface="Quattrocento Sans"/>
              <a:buNone/>
            </a:pPr>
            <a:r>
              <a:rPr b="0" i="0" lang="en-US" sz="1050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트러블슈팅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185721" y="1998464"/>
            <a:ext cx="2772409" cy="10971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Stateful 서버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3600"/>
              <a:buFont typeface="Quattrocento Sans"/>
              <a:buNone/>
            </a:pPr>
            <a:r>
              <a:rPr b="0" i="0" lang="en-US" sz="36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확장하기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2614176" y="3324225"/>
            <a:ext cx="3915498" cy="239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767B"/>
              </a:buClr>
              <a:buSzPts val="1350"/>
              <a:buFont typeface="Quattrocento Sans"/>
              <a:buNone/>
            </a:pPr>
            <a:r>
              <a:rPr b="0" i="0" lang="en-US" sz="1350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브라우저 세션을 유지하면서 스케일 아웃하는 방법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297180" y="4665464"/>
            <a:ext cx="8549640" cy="1732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767B"/>
              </a:buClr>
              <a:buSzPts val="975"/>
              <a:buFont typeface="Quattrocento Sans"/>
              <a:buNone/>
            </a:pPr>
            <a:r>
              <a:rPr lang="en-US" sz="975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이국준 </a:t>
            </a:r>
            <a:r>
              <a:rPr b="0" i="0" lang="en-US" sz="975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Engineer</a:t>
            </a:r>
            <a:r>
              <a:rPr lang="en-US" sz="975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975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Sakak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g3bbe688209e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063" y="152400"/>
            <a:ext cx="773587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g3bbe688209e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063" y="152400"/>
            <a:ext cx="7735875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bbe688209e_0_25"/>
          <p:cNvSpPr txBox="1"/>
          <p:nvPr/>
        </p:nvSpPr>
        <p:spPr>
          <a:xfrm>
            <a:off x="704075" y="4353200"/>
            <a:ext cx="379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경력직 채용중 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dec654bb2_0_34"/>
          <p:cNvSpPr/>
          <p:nvPr/>
        </p:nvSpPr>
        <p:spPr>
          <a:xfrm>
            <a:off x="0" y="0"/>
            <a:ext cx="57300" cy="514350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leek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" name="Google Shape;44;g3bdec654bb2_0_34"/>
          <p:cNvGrpSpPr/>
          <p:nvPr/>
        </p:nvGrpSpPr>
        <p:grpSpPr>
          <a:xfrm>
            <a:off x="1145825" y="875589"/>
            <a:ext cx="6852450" cy="4192375"/>
            <a:chOff x="1145825" y="875589"/>
            <a:chExt cx="6852450" cy="4192375"/>
          </a:xfrm>
        </p:grpSpPr>
        <p:pic>
          <p:nvPicPr>
            <p:cNvPr id="45" name="Google Shape;45;g3bdec654bb2_0_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45825" y="875589"/>
              <a:ext cx="6852352" cy="4192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g3bdec654bb2_0_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818946" y="3737346"/>
              <a:ext cx="1506100" cy="1239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g3bdec654bb2_0_34"/>
            <p:cNvSpPr/>
            <p:nvPr/>
          </p:nvSpPr>
          <p:spPr>
            <a:xfrm>
              <a:off x="5594975" y="1131550"/>
              <a:ext cx="2403300" cy="15030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/>
                <a:t>1</a:t>
              </a:r>
              <a:r>
                <a:rPr lang="en-US" sz="1300"/>
                <a:t>주일 안에</a:t>
              </a:r>
              <a:endParaRPr sz="13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/>
                <a:t>안정적인 서비스 가능</a:t>
              </a:r>
              <a:endParaRPr b="1" sz="13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-US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서버는 필요에 따라 증설과 감축 필요</a:t>
              </a:r>
              <a:endParaRPr b="1" sz="1300"/>
            </a:p>
          </p:txBody>
        </p:sp>
      </p:grpSp>
      <p:sp>
        <p:nvSpPr>
          <p:cNvPr id="48" name="Google Shape;48;g3bdec654bb2_0_34"/>
          <p:cNvSpPr/>
          <p:nvPr/>
        </p:nvSpPr>
        <p:spPr>
          <a:xfrm>
            <a:off x="381000" y="571500"/>
            <a:ext cx="428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2700"/>
              <a:buFont typeface="Quattrocento Sans"/>
              <a:buNone/>
            </a:pPr>
            <a:r>
              <a:rPr b="1" lang="en-US" sz="2700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문제 상황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leek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81000" y="571500"/>
            <a:ext cx="5082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2700"/>
              <a:buFont typeface="Quattrocento Sans"/>
              <a:buNone/>
            </a:pPr>
            <a:r>
              <a:rPr b="1" lang="en-US" sz="2700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일반적으로는 … Stateless한 서버는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" name="Google Shape;56;p2" title="stateless-server-expl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0125" y="1021075"/>
            <a:ext cx="7063740" cy="392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bb3f331a3b_0_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75" y="943225"/>
            <a:ext cx="7562849" cy="32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"/>
          <p:cNvSpPr/>
          <p:nvPr/>
        </p:nvSpPr>
        <p:spPr>
          <a:xfrm>
            <a:off x="381000" y="5715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2700"/>
              <a:buFont typeface="Quattrocento Sans"/>
              <a:buNone/>
            </a:pPr>
            <a:r>
              <a:rPr b="1" i="0" lang="en-US" sz="27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스크래핑 API 서버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" name="Google Shape;69;p3"/>
          <p:cNvGrpSpPr/>
          <p:nvPr/>
        </p:nvGrpSpPr>
        <p:grpSpPr>
          <a:xfrm>
            <a:off x="684601" y="1097271"/>
            <a:ext cx="3671400" cy="939000"/>
            <a:chOff x="687563" y="1472246"/>
            <a:chExt cx="3671400" cy="939000"/>
          </a:xfrm>
        </p:grpSpPr>
        <p:sp>
          <p:nvSpPr>
            <p:cNvPr id="70" name="Google Shape;70;p3"/>
            <p:cNvSpPr/>
            <p:nvPr/>
          </p:nvSpPr>
          <p:spPr>
            <a:xfrm>
              <a:off x="687563" y="1472246"/>
              <a:ext cx="3671400" cy="939000"/>
            </a:xfrm>
            <a:prstGeom prst="roundRect">
              <a:avLst>
                <a:gd fmla="val 8114" name="adj"/>
              </a:avLst>
            </a:prstGeom>
            <a:solidFill>
              <a:srgbClr val="1E27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>
              <a:off x="878063" y="1624646"/>
              <a:ext cx="3356400" cy="18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9BF0"/>
                </a:buClr>
                <a:buSzPts val="1050"/>
                <a:buFont typeface="Quattrocento Sans"/>
                <a:buNone/>
              </a:pPr>
              <a:r>
                <a:rPr b="1" i="0" lang="en-US" sz="1050" u="none" cap="none" strike="noStrike">
                  <a:solidFill>
                    <a:srgbClr val="1D9BF0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Playwright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>
              <a:off x="878063" y="1887477"/>
              <a:ext cx="33564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51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9EA"/>
                </a:buClr>
                <a:buSzPts val="975"/>
                <a:buFont typeface="Quattrocento Sans"/>
                <a:buNone/>
              </a:pPr>
              <a:r>
                <a:rPr b="0" i="0" lang="en-US" sz="975" u="none" cap="none" strike="noStrike">
                  <a:solidFill>
                    <a:srgbClr val="E7E9E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브라우저를 코드로 조작하는 자동화 도구.</a:t>
              </a:r>
              <a:endParaRPr b="0" i="0" sz="9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50051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9EA"/>
                </a:buClr>
                <a:buSzPts val="975"/>
                <a:buFont typeface="Quattrocento Sans"/>
                <a:buNone/>
              </a:pPr>
              <a:r>
                <a:rPr b="0" i="0" lang="en-US" sz="975" u="none" cap="none" strike="noStrike">
                  <a:solidFill>
                    <a:srgbClr val="E7E9E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서버에서 실제 브라우저를 띄워서 웹사이트를 탐색한다.</a:t>
              </a:r>
              <a:endParaRPr b="0" i="0" sz="9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4787976" y="1097277"/>
            <a:ext cx="3671400" cy="939000"/>
            <a:chOff x="687563" y="3523202"/>
            <a:chExt cx="3671400" cy="939000"/>
          </a:xfrm>
        </p:grpSpPr>
        <p:sp>
          <p:nvSpPr>
            <p:cNvPr id="74" name="Google Shape;74;p3"/>
            <p:cNvSpPr/>
            <p:nvPr/>
          </p:nvSpPr>
          <p:spPr>
            <a:xfrm>
              <a:off x="687563" y="3523202"/>
              <a:ext cx="3671400" cy="939000"/>
            </a:xfrm>
            <a:prstGeom prst="roundRect">
              <a:avLst>
                <a:gd fmla="val 8114" name="adj"/>
              </a:avLst>
            </a:prstGeom>
            <a:solidFill>
              <a:srgbClr val="1E273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>
              <a:off x="878063" y="3675602"/>
              <a:ext cx="3356400" cy="18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7931A"/>
                </a:buClr>
                <a:buSzPts val="1050"/>
                <a:buFont typeface="Quattrocento Sans"/>
                <a:buNone/>
              </a:pPr>
              <a:r>
                <a:rPr b="1" i="0" lang="en-US" sz="1050" u="none" cap="none" strike="noStrike">
                  <a:solidFill>
                    <a:srgbClr val="F7931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핵심 제약</a:t>
              </a:r>
              <a:endParaRPr b="0" i="0" sz="10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>
              <a:off x="878063" y="3938432"/>
              <a:ext cx="3356400" cy="37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50051"/>
                </a:lnSpc>
                <a:spcBef>
                  <a:spcPts val="0"/>
                </a:spcBef>
                <a:spcAft>
                  <a:spcPts val="0"/>
                </a:spcAft>
                <a:buClr>
                  <a:srgbClr val="E7E9EA"/>
                </a:buClr>
                <a:buSzPts val="975"/>
                <a:buFont typeface="Quattrocento Sans"/>
                <a:buNone/>
              </a:pPr>
              <a:r>
                <a:rPr b="0" i="0" lang="en-US" sz="975" u="none" cap="none" strike="noStrike">
                  <a:solidFill>
                    <a:srgbClr val="E7E9E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브라우저</a:t>
              </a:r>
              <a:r>
                <a:rPr lang="en-US" sz="975">
                  <a:solidFill>
                    <a:srgbClr val="E7E9E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정보가</a:t>
              </a:r>
              <a:r>
                <a:rPr b="0" i="0" lang="en-US" sz="975" u="none" cap="none" strike="noStrike">
                  <a:solidFill>
                    <a:srgbClr val="E7E9E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서버 메모리에 종속되어야 함</a:t>
              </a:r>
              <a:endParaRPr b="0" i="0" sz="9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7" name="Google Shape;77;p3" title="playwright-context-v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131" y="2188675"/>
            <a:ext cx="6687749" cy="26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3"/>
          <p:cNvSpPr/>
          <p:nvPr/>
        </p:nvSpPr>
        <p:spPr>
          <a:xfrm>
            <a:off x="0" y="0"/>
            <a:ext cx="57300" cy="514350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leek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bb3f331a3b_0_1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0963" y="628698"/>
            <a:ext cx="6122076" cy="38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bb3f331a3b_0_169"/>
          <p:cNvSpPr txBox="1"/>
          <p:nvPr/>
        </p:nvSpPr>
        <p:spPr>
          <a:xfrm>
            <a:off x="461200" y="4093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요청 흐름</a:t>
            </a:r>
            <a:endParaRPr b="1" i="0" sz="1600" u="none" cap="none" strike="noStrike">
              <a:solidFill>
                <a:srgbClr val="E7E9E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bb3f331a3b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9600" y="840401"/>
            <a:ext cx="3315629" cy="3462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bb3f331a3b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750" y="1013212"/>
            <a:ext cx="5208502" cy="3117074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bb3f331a3b_0_59"/>
          <p:cNvSpPr txBox="1"/>
          <p:nvPr/>
        </p:nvSpPr>
        <p:spPr>
          <a:xfrm>
            <a:off x="461200" y="4093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1차 요청 흐름</a:t>
            </a:r>
            <a:endParaRPr b="1" i="0" sz="1600" u="none" cap="none" strike="noStrike">
              <a:solidFill>
                <a:srgbClr val="E7E9E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b3f331a3b_0_1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id="99" name="Google Shape;99;g3bb3f331a3b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50" y="1368150"/>
            <a:ext cx="5684024" cy="2985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g3bb3f331a3b_0_1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6675" y="1048959"/>
            <a:ext cx="3315626" cy="362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bb3f331a3b_0_144"/>
          <p:cNvSpPr txBox="1"/>
          <p:nvPr/>
        </p:nvSpPr>
        <p:spPr>
          <a:xfrm>
            <a:off x="461200" y="4093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2차 요청 흐름</a:t>
            </a:r>
            <a:endParaRPr b="1" i="0" sz="1600" u="none" cap="none" strike="noStrike">
              <a:solidFill>
                <a:srgbClr val="E7E9E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g3bb3f331a3b_0_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563" y="585188"/>
            <a:ext cx="7756877" cy="397312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bb3f331a3b_0_211"/>
          <p:cNvSpPr/>
          <p:nvPr/>
        </p:nvSpPr>
        <p:spPr>
          <a:xfrm>
            <a:off x="441975" y="585200"/>
            <a:ext cx="6887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2700"/>
              <a:buFont typeface="Quattrocento Sans"/>
              <a:buNone/>
            </a:pPr>
            <a:r>
              <a:rPr b="1" i="0" lang="en-US" sz="27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서</a:t>
            </a:r>
            <a:r>
              <a:rPr b="1" lang="en-US" sz="2700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버를 늘리면서</a:t>
            </a:r>
            <a:r>
              <a:rPr b="1" i="0" lang="en-US" sz="27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세션을 찾을 수 없</a:t>
            </a:r>
            <a:r>
              <a:rPr b="1" lang="en-US" sz="2700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는 문제 발생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/>
        </p:nvSpPr>
        <p:spPr>
          <a:xfrm>
            <a:off x="1159463" y="4615038"/>
            <a:ext cx="65799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50" lIns="73100" spcFirstLastPara="1" rIns="73100" wrap="square" tIns="36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sz="1119"/>
          </a:p>
        </p:txBody>
      </p:sp>
      <p:sp>
        <p:nvSpPr>
          <p:cNvPr id="114" name="Google Shape;114;p12"/>
          <p:cNvSpPr txBox="1"/>
          <p:nvPr/>
        </p:nvSpPr>
        <p:spPr>
          <a:xfrm>
            <a:off x="1770034" y="4639812"/>
            <a:ext cx="6214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50" lIns="73100" spcFirstLastPara="1" rIns="73100" wrap="square" tIns="36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9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IP 분산이 핵심인 스크래핑 서버에는 부적합</a:t>
            </a:r>
            <a:endParaRPr sz="1119"/>
          </a:p>
        </p:txBody>
      </p:sp>
      <p:pic>
        <p:nvPicPr>
          <p:cNvPr id="115" name="Google Shape;11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5238" y="408400"/>
            <a:ext cx="6733517" cy="3994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/>
        </p:nvSpPr>
        <p:spPr>
          <a:xfrm>
            <a:off x="1483100" y="4602668"/>
            <a:ext cx="59904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275" lIns="66550" spcFirstLastPara="1" rIns="66550" wrap="square" tIns="33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1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sz="1019"/>
          </a:p>
        </p:txBody>
      </p:sp>
      <p:sp>
        <p:nvSpPr>
          <p:cNvPr id="121" name="Google Shape;121;p13"/>
          <p:cNvSpPr txBox="1"/>
          <p:nvPr/>
        </p:nvSpPr>
        <p:spPr>
          <a:xfrm>
            <a:off x="2003197" y="4625019"/>
            <a:ext cx="56577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3275" lIns="66550" spcFirstLastPara="1" rIns="66550" wrap="square" tIns="33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19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동적 스케일링 환경에서 세션 유실 불가피</a:t>
            </a:r>
            <a:endParaRPr sz="1019"/>
          </a:p>
        </p:txBody>
      </p:sp>
      <p:pic>
        <p:nvPicPr>
          <p:cNvPr id="122" name="Google Shape;12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363" y="561400"/>
            <a:ext cx="6777267" cy="4020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/>
        </p:nvSpPr>
        <p:spPr>
          <a:xfrm>
            <a:off x="457200" y="4495789"/>
            <a:ext cx="62790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875" lIns="69775" spcFirstLastPara="1" rIns="69775" wrap="square" tIns="34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7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sz="1068"/>
          </a:p>
        </p:txBody>
      </p:sp>
      <p:sp>
        <p:nvSpPr>
          <p:cNvPr id="128" name="Google Shape;128;p14"/>
          <p:cNvSpPr txBox="1"/>
          <p:nvPr/>
        </p:nvSpPr>
        <p:spPr>
          <a:xfrm>
            <a:off x="596726" y="4809725"/>
            <a:ext cx="4761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875" lIns="69775" spcFirstLastPara="1" rIns="69775" wrap="square" tIns="34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68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올바른 방향이나, 현재 리소스 대비 과도한 투자</a:t>
            </a:r>
            <a:endParaRPr sz="1068"/>
          </a:p>
        </p:txBody>
      </p:sp>
      <p:pic>
        <p:nvPicPr>
          <p:cNvPr id="129" name="Google Shape;12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838" y="476250"/>
            <a:ext cx="7064315" cy="4190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5"/>
          <p:cNvSpPr txBox="1"/>
          <p:nvPr/>
        </p:nvSpPr>
        <p:spPr>
          <a:xfrm>
            <a:off x="1230450" y="4763332"/>
            <a:ext cx="6057600" cy="2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3650" lIns="67300" spcFirstLastPara="1" rIns="67300" wrap="square" tIns="33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sz="1030"/>
          </a:p>
        </p:txBody>
      </p:sp>
      <p:sp>
        <p:nvSpPr>
          <p:cNvPr id="135" name="Google Shape;135;p15"/>
          <p:cNvSpPr txBox="1"/>
          <p:nvPr/>
        </p:nvSpPr>
        <p:spPr>
          <a:xfrm>
            <a:off x="2192538" y="4785986"/>
            <a:ext cx="57210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3650" lIns="67300" spcFirstLastPara="1" rIns="67300" wrap="square" tIns="336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0" u="none" cap="none" strike="noStrike">
                <a:solidFill>
                  <a:srgbClr val="E0E0E0"/>
                </a:solidFill>
                <a:latin typeface="Arial"/>
                <a:ea typeface="Arial"/>
                <a:cs typeface="Arial"/>
                <a:sym typeface="Arial"/>
              </a:rPr>
              <a:t>보안 요구사항과 비용 측면에서 부적합</a:t>
            </a:r>
            <a:endParaRPr sz="1030"/>
          </a:p>
        </p:txBody>
      </p:sp>
      <p:pic>
        <p:nvPicPr>
          <p:cNvPr id="136" name="Google Shape;13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0525" y="482600"/>
            <a:ext cx="7042939" cy="4178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Session-Aware Router란?</a:t>
            </a:r>
            <a:endParaRPr/>
          </a:p>
        </p:txBody>
      </p:sp>
      <p:grpSp>
        <p:nvGrpSpPr>
          <p:cNvPr id="142" name="Google Shape;142;p16"/>
          <p:cNvGrpSpPr/>
          <p:nvPr/>
        </p:nvGrpSpPr>
        <p:grpSpPr>
          <a:xfrm>
            <a:off x="6410300" y="2233300"/>
            <a:ext cx="2386500" cy="988776"/>
            <a:chOff x="5802975" y="2233300"/>
            <a:chExt cx="2386500" cy="988776"/>
          </a:xfrm>
        </p:grpSpPr>
        <p:sp>
          <p:nvSpPr>
            <p:cNvPr id="143" name="Google Shape;143;p16"/>
            <p:cNvSpPr txBox="1"/>
            <p:nvPr/>
          </p:nvSpPr>
          <p:spPr>
            <a:xfrm>
              <a:off x="5802975" y="2233300"/>
              <a:ext cx="2386500" cy="27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625" lIns="69300" spcFirstLastPara="1" rIns="69300" wrap="square" tIns="346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6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장점</a:t>
              </a:r>
              <a:endParaRPr sz="1061"/>
            </a:p>
          </p:txBody>
        </p:sp>
        <p:sp>
          <p:nvSpPr>
            <p:cNvPr id="144" name="Google Shape;144;p16"/>
            <p:cNvSpPr txBox="1"/>
            <p:nvPr/>
          </p:nvSpPr>
          <p:spPr>
            <a:xfrm>
              <a:off x="5856010" y="2545153"/>
              <a:ext cx="22542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625" lIns="69300" spcFirstLastPara="1" rIns="69300" wrap="square" tIns="346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61" u="none" cap="none" strike="noStrike">
                  <a:solidFill>
                    <a:srgbClr val="E0E0E0"/>
                  </a:solidFill>
                  <a:latin typeface="Arial"/>
                  <a:ea typeface="Arial"/>
                  <a:cs typeface="Arial"/>
                  <a:sym typeface="Arial"/>
                </a:rPr>
                <a:t>✅ 서버 추가/제거에도 기존 세션 유지</a:t>
              </a:r>
              <a:endParaRPr sz="1061"/>
            </a:p>
          </p:txBody>
        </p:sp>
        <p:sp>
          <p:nvSpPr>
            <p:cNvPr id="145" name="Google Shape;145;p16"/>
            <p:cNvSpPr txBox="1"/>
            <p:nvPr/>
          </p:nvSpPr>
          <p:spPr>
            <a:xfrm>
              <a:off x="5856010" y="2766915"/>
              <a:ext cx="22542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625" lIns="69300" spcFirstLastPara="1" rIns="69300" wrap="square" tIns="346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61" u="none" cap="none" strike="noStrike">
                  <a:solidFill>
                    <a:srgbClr val="E0E0E0"/>
                  </a:solidFill>
                  <a:latin typeface="Arial"/>
                  <a:ea typeface="Arial"/>
                  <a:cs typeface="Arial"/>
                  <a:sym typeface="Arial"/>
                </a:rPr>
                <a:t>✅ 요청 단위 라우팅으로 IP 분산 가능</a:t>
              </a:r>
              <a:endParaRPr sz="1061"/>
            </a:p>
          </p:txBody>
        </p:sp>
        <p:sp>
          <p:nvSpPr>
            <p:cNvPr id="146" name="Google Shape;146;p16"/>
            <p:cNvSpPr txBox="1"/>
            <p:nvPr/>
          </p:nvSpPr>
          <p:spPr>
            <a:xfrm>
              <a:off x="5856010" y="2988676"/>
              <a:ext cx="2254200" cy="2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625" lIns="69300" spcFirstLastPara="1" rIns="69300" wrap="square" tIns="346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061" u="none" cap="none" strike="noStrike">
                  <a:solidFill>
                    <a:srgbClr val="E0E0E0"/>
                  </a:solidFill>
                  <a:latin typeface="Arial"/>
                  <a:ea typeface="Arial"/>
                  <a:cs typeface="Arial"/>
                  <a:sym typeface="Arial"/>
                </a:rPr>
                <a:t>✅ 기존 코드 최소 변경</a:t>
              </a:r>
              <a:endParaRPr sz="1061"/>
            </a:p>
          </p:txBody>
        </p:sp>
      </p:grpSp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800" y="1039443"/>
            <a:ext cx="5814502" cy="378165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/>
          <p:nvPr/>
        </p:nvSpPr>
        <p:spPr>
          <a:xfrm>
            <a:off x="0" y="0"/>
            <a:ext cx="57300" cy="5143500"/>
          </a:xfrm>
          <a:prstGeom prst="rect">
            <a:avLst/>
          </a:prstGeom>
          <a:solidFill>
            <a:srgbClr val="1D9B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leek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각 컴포넌트의 역할</a:t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100" y="1005840"/>
            <a:ext cx="7071800" cy="38328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813" y="655315"/>
            <a:ext cx="5250632" cy="383285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469250" y="4154825"/>
            <a:ext cx="3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…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1" name="Google Shape;161;p18" title="icons8-테라폼-4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6445" y="655324"/>
            <a:ext cx="922300" cy="92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457200" y="365760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전체 아키텍처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81000" y="5715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2700"/>
              <a:buFont typeface="Quattrocento Sans"/>
              <a:buNone/>
            </a:pPr>
            <a:r>
              <a:rPr b="1" i="0" lang="en-US" sz="27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왜 Lambda인가?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692975" y="1420267"/>
            <a:ext cx="3758100" cy="2274300"/>
          </a:xfrm>
          <a:prstGeom prst="roundRect">
            <a:avLst>
              <a:gd fmla="val 3351" name="adj"/>
            </a:avLst>
          </a:prstGeom>
          <a:solidFill>
            <a:srgbClr val="1E27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883475" y="1610767"/>
            <a:ext cx="3444600" cy="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D9BF0"/>
              </a:buClr>
              <a:buSzPts val="1050"/>
              <a:buFont typeface="Quattrocento Sans"/>
              <a:buNone/>
            </a:pPr>
            <a:r>
              <a:rPr b="1" i="0" lang="en-US" sz="1050" u="none" cap="none" strike="noStrike">
                <a:solidFill>
                  <a:srgbClr val="1D9BF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현재 상황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3168927" y="1953667"/>
            <a:ext cx="1242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975"/>
              <a:buFont typeface="Quattrocento Sans"/>
              <a:buNone/>
            </a:pPr>
            <a:r>
              <a:rPr b="0" i="0" lang="en-US" sz="975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콜드 스타트 체감 없음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131125" y="2245072"/>
            <a:ext cx="3192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767B"/>
              </a:buClr>
              <a:buSzPts val="825"/>
              <a:buFont typeface="Quattrocento Sans"/>
              <a:buNone/>
            </a:pPr>
            <a:r>
              <a:rPr b="0" i="0" lang="en-US" sz="825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스크래핑 특성상 지연 허용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168927" y="2509838"/>
            <a:ext cx="1074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975"/>
              <a:buFont typeface="Quattrocento Sans"/>
              <a:buNone/>
            </a:pPr>
            <a:r>
              <a:rPr b="0" i="0" lang="en-US" sz="975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월 100만 요청 이하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3131125" y="2801243"/>
            <a:ext cx="3192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767B"/>
              </a:buClr>
              <a:buSzPts val="825"/>
              <a:buFont typeface="Quattrocento Sans"/>
              <a:buNone/>
            </a:pPr>
            <a:r>
              <a:rPr b="0" i="0" lang="en-US" sz="825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Lambda 거의 무료 구간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3168927" y="3066008"/>
            <a:ext cx="540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975"/>
              <a:buFont typeface="Quattrocento Sans"/>
              <a:buNone/>
            </a:pPr>
            <a:r>
              <a:rPr b="0" i="0" lang="en-US" sz="975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단순 로직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3131125" y="3357414"/>
            <a:ext cx="31920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767B"/>
              </a:buClr>
              <a:buSzPts val="825"/>
              <a:buFont typeface="Quattrocento Sans"/>
              <a:buNone/>
            </a:pPr>
            <a:r>
              <a:rPr b="0" i="0" lang="en-US" sz="825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Redis 조회 + 라운드로빈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505260" y="3913593"/>
            <a:ext cx="4133400" cy="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71767B"/>
              </a:buClr>
              <a:buSzPts val="825"/>
              <a:buFont typeface="Quattrocento Sans"/>
              <a:buNone/>
            </a:pPr>
            <a:r>
              <a:rPr b="0" i="0" lang="en-US" sz="825" u="none" cap="none" strike="noStrike">
                <a:solidFill>
                  <a:srgbClr val="71767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월 5000만 요청 이상 시 상시 서버 고려</a:t>
            </a:r>
            <a:endParaRPr b="0" i="0" sz="8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0" y="0"/>
            <a:ext cx="57150" cy="514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381000" y="571500"/>
            <a:ext cx="42845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2700"/>
              <a:buFont typeface="Quattrocento Sans"/>
              <a:buNone/>
            </a:pPr>
            <a:r>
              <a:rPr b="1" lang="en-US" sz="2700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개선 결과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8401" y="1093000"/>
            <a:ext cx="7127199" cy="3650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8" title="icons8-테라폼-48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47548" y="3104199"/>
            <a:ext cx="515600" cy="5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dec654bb2_0_27"/>
          <p:cNvSpPr/>
          <p:nvPr/>
        </p:nvSpPr>
        <p:spPr>
          <a:xfrm>
            <a:off x="0" y="0"/>
            <a:ext cx="57300" cy="5143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bdec654bb2_0_27"/>
          <p:cNvSpPr/>
          <p:nvPr/>
        </p:nvSpPr>
        <p:spPr>
          <a:xfrm>
            <a:off x="381000" y="571500"/>
            <a:ext cx="4284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2700"/>
              <a:buFont typeface="Quattrocento Sans"/>
              <a:buNone/>
            </a:pPr>
            <a:r>
              <a:rPr b="1" lang="en-US" sz="2700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느낀점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g3bdec654bb2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63" y="1287075"/>
            <a:ext cx="8239877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tmp/rasterized-gradient-3cf720be.png" id="201" name="Google Shape;20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71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9"/>
          <p:cNvSpPr/>
          <p:nvPr/>
        </p:nvSpPr>
        <p:spPr>
          <a:xfrm>
            <a:off x="3967363" y="2305045"/>
            <a:ext cx="1209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E9EA"/>
              </a:buClr>
              <a:buSzPts val="4200"/>
              <a:buFont typeface="Quattrocento Sans"/>
              <a:buNone/>
            </a:pPr>
            <a:r>
              <a:rPr b="1" i="0" lang="en-US" sz="4200" u="none" cap="none" strike="noStrike">
                <a:solidFill>
                  <a:srgbClr val="E7E9E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Q&amp;A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3" name="Google Shape;20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475" y="1104626"/>
            <a:ext cx="3432899" cy="2934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2026-01-25T09:35:06Z</dcterms:created>
  <dc:creator>Backend Engineer</dc:creator>
</cp:coreProperties>
</file>